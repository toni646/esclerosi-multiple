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Training patients by number of visits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patients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visit</c:v>
                  </c:pt>
                  <c:pt idx="1">
                    <c:v>2 visits</c:v>
                  </c:pt>
                  <c:pt idx="2">
                    <c:v>3 visits</c:v>
                  </c:pt>
                  <c:pt idx="3">
                    <c:v>4 visits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15</c:v>
                </c:pt>
                <c:pt idx="2">
                  <c:v>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Share of lesions vs. share of volume, by size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lesions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≤10 mm³</c:v>
                  </c:pt>
                  <c:pt idx="1">
                    <c:v>11-27 mm³</c:v>
                  </c:pt>
                  <c:pt idx="2">
                    <c:v>28-100 mm³</c:v>
                  </c:pt>
                  <c:pt idx="3">
                    <c:v>101-1000 mm³</c:v>
                  </c:pt>
                  <c:pt idx="4">
                    <c:v>&gt;1000 mm³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10.7</c:v>
                </c:pt>
                <c:pt idx="1">
                  <c:v>12.8</c:v>
                </c:pt>
                <c:pt idx="2">
                  <c:v>42.3</c:v>
                </c:pt>
                <c:pt idx="3">
                  <c:v>29.3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lesion volume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≤10 mm³</c:v>
                  </c:pt>
                  <c:pt idx="1">
                    <c:v>11-27 mm³</c:v>
                  </c:pt>
                  <c:pt idx="2">
                    <c:v>28-100 mm³</c:v>
                  </c:pt>
                  <c:pt idx="3">
                    <c:v>101-1000 mm³</c:v>
                  </c:pt>
                  <c:pt idx="4">
                    <c:v>&gt;1000 mm³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</c:v>
                </c:pt>
                <c:pt idx="1">
                  <c:v>0.7</c:v>
                </c:pt>
                <c:pt idx="2">
                  <c:v>6.4</c:v>
                </c:pt>
                <c:pt idx="3">
                  <c:v>21.3</c:v>
                </c:pt>
                <c:pt idx="4">
                  <c:v>71.5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análisis exploratorio (EDA) del dataset MSLesSeg. Objetivo: conocer a fondo los datos antes de entrenar ningún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hacer un EDA? Tres motivos: conocer los datos, detectar problemas antes de entrenar y tomar decisiones de modelado justificadas. Todo el análisis está en el repositorio y se puede regenerar.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tiene 75 pacientes, 115 estudios y 3.403 lesiones. En train hay 53 pacientes con 1 a 4 visitas (93 estudios); en test, 22 pacientes con una sola visita. Importante: el test incluye las máscaras, así que podemos evaluar igual que el artículo.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estudio tiene tres secuencias de resonancia (FLAIR, T1, T2) y la máscara con las lesiones marcadas por los expertos. Ejemplo: paciente P1, primera visita, corte con más lesión. Todas las imágenes tienen el mismo tamaño y están alineadas al cerebro de referencia MNI.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para cada estudio abro las 4 imágenes; el cerebro son los vóxeles no negros de la FLAIR; separo la máscara en lesiones individuales agrupando vóxeles que comparten una cara (conectividad 6, la misma regla que usan los autores); mido intensidades; y lo junto con los datos clínicos y del escáner. Uso medianas porque los datos están muy sesgados.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Pacientes: edad media 37 años, 64 % mujeres, casi todos con EM remitente-recurrente y discapacidad leve. Coincide exactamente con lo que dice el artículo. Train y test son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de calidad: todo está bien salvo tres problemas (en naranja). Lo más importante: el volumen de lesión que calculo coincide al 100 % con el de los autores, lo que demuestra que el código mide bien. El número de lesiones también coincide al 100 % usando la misma regla de conteo que los autores (conectividad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problema: en el estudio P49_T2 la imagen T1 está vacía. La FLAIR y la T2 están bien, y la máscara también. Decisión: se mantiene, con la T1 en ceros (que es lo que el modelo recibe del archivo).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problema: después del registro, todos los cerebros deberían ocupar un volumen parecido. Tres estudios (P44, P45, P53) son casi el doble de grandes y salen cortados en los bordes: el registro no los escaló bien. A la derecha se comparan con un cerebro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¿Se pueden usar? Sí: en los 4 casos ninguna lesión cae fuera del cerebro y las lesiones son brillantes en FLAIR como en el resto de estudios. El artículo no los menciona, así que probablemente los usaron. Decisión: mantenerlos para comparar con el artículo y repetir los resultados sin ellos para comprobar su efecto.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artículo no dice cómo cuenta las lesiones. Probé las tres reglas habituales: conectividad 6 (dos vóxeles son la misma lesión solo si comparten una cara), 18 (cara o arista) y 26 (cara, arista o esquina), y también eliminar lesiones muy pequeñas. La conectividad 6 sin eliminar nada coincide exactamente con los autores en los 115 estudios y da las mismas medias que el artículo (28,9 y 41,2). Por eso la usamos, también para calcular LTPR y LFPR y poder comparar con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cantidad de lesión varía muchísimo entre estudios: de menos de 1 cm³ a más de 70 cm³, y de 3 a 193 lesiones. Train (azul) y test (contorno naranja) tienen distribuciones parecidas.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Desequilibrio de clases: la lesión es solo el 0,3 % del cerebro, aproximadamente 1 vóxel de lesión por cada 330 sanos. Un modelo que dijera siempre 'no hay lesión' acertaría más del 99 % de vóxeles. Por eso usamos Dice y no accuracy, y entrenamos con trozos de imagen que contengan lesión.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hallazgo más importante. El 66 % de las lesiones son pequeñas (≤100 mm³) pero solo suman el 7 % del volumen; las lesiones grandes (&gt;1000 mm³) son el 5 % pero suponen el 72 % del volumen. Como el Dice depende del volumen, un modelo puede tener buen Dice y dejarse muchas lesiones pequeñas. Esto explica por qué MSSegDiff tiene el mejor Dice pero detecta menos lesiones, y justifica la aportación del TFM.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imágenes vienen de 9 modelos de escáner de 3 marcas, sobre todo Philips. Los datos no dicen si cada escáner es de 1,5 o 3 Tesla. Importante: en el test hay muchas más imágenes de GE (23 %) que en el train (4 %), así que el test es algo distinto del entrenamiento.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brillo de las imágenes no está normalizado y cambia mucho según la marca del escáner: por ejemplo, en FLAIR los Philips tienen valores mucho más bajos que los GE. Por eso hay que normalizar cada imagen (z-score dentro del cerebro), como hace el código de los autores y nnU-Net.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pacientes tienen varias visitas. En general el volumen de lesión es estable. Cuatro pares de visitas cambian más de 3 veces (P20, P49, P50): puede ser real o un error. Consecuencia importante: los folds de validación cruzada se hacen por paciente, para no tener la misma persona en entrenamiento y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Resumen: cada cosa que hemos visto en los datos se convierte en una decisión concreta para entrenar y evaluar los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Siguientes pasos: crear los folds por paciente, programar las métricas, montar MLflow y entrenar los primeros modelos. Preguntas abiertas: acceso a GPU, acuerdo sobre los estudios problemáticos y preguntas a los autores.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0"/>
            <a:ext cx="547085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deck_title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320040"/>
            <a:ext cx="4974336" cy="6217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0372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 with expert lesion mask (red)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LESION SEGMENTATION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of MSLesSeg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data before training any model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846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Manel Frigola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exploratory data analysis?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7757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8191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the data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98424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patients, studies and lesions; who the patients are; how the images were acquired.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1016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077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problems early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3101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images, badly registered studies or inconsistent masks, before wasting GPU hours.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4275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2336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modelling decisions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6360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function, normalisation, cross-validation and metrics all follow from what the data look like.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406640" y="1600200"/>
            <a:ext cx="4233672" cy="3886200"/>
          </a:xfrm>
          <a:prstGeom prst="roundRect">
            <a:avLst>
              <a:gd name="adj" fmla="val 1882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reproducible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635240" y="22402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ms_seg/eda.py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statistics for every study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data/interim/*.csv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results: 115 studies, 3,595 lesions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notebooks/2.0-tlb-eda.ipynb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tables and figures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reports/figures/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shown in this deck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5087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(MRI sessions)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3,595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lesions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15087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per study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760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Chart 0" descr=""/>
          <p:cNvGraphicFramePr/>
          <p:nvPr/>
        </p:nvGraphicFramePr>
        <p:xfrm>
          <a:off x="6675120" y="3246120"/>
          <a:ext cx="49377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48640" y="51206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masks are included, so the paper's train/test split can be used as 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study looks like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first_look_P1_T1_ax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9278"/>
            <a:ext cx="11094415" cy="27736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FLAIR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92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appear bright; the key sequence for MS.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T1-weighted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4892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Anatomy; some lesions appear dark.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T2-weighted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892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bright, but so is the fluid in the ventricles.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48920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annotation: 1 = lesion, 0 = no lesion (red).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volumes: 182 × 218 × 182 voxels of 1 mm³, registered to MNI152 and skull-stripped.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study was measured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1810512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1975104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Load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06324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FLAIR, T1, T2 and mask (NIfTI) for each of the 115 studies.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 rot="5400000">
            <a:off x="2679192" y="3017520"/>
            <a:ext cx="109728" cy="182880"/>
          </a:xfrm>
          <a:prstGeom prst="rtTriangle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5012" y="1810512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975104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53512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Brain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80944" y="306324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= voxels with FLAIR &gt; 0 (images are skull-stripped).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 rot="5400000">
            <a:off x="4946904" y="3017520"/>
            <a:ext cx="109728" cy="182880"/>
          </a:xfrm>
          <a:prstGeom prst="rtTriangle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84064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92724" y="1810512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1975104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21224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Lesions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48656" y="306324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mask into lesions: voxels sharing a face (6-connectivity, as the authors). 1 voxel = 1 mm³.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 rot="5400000">
            <a:off x="7214616" y="3017520"/>
            <a:ext cx="109728" cy="182880"/>
          </a:xfrm>
          <a:prstGeom prst="rtTriangle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351776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60436" y="1810512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1975104"/>
            <a:ext cx="356616" cy="35661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88936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Intensities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516368" y="306324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1st, 50th, 99th percentile of each sequence in the brain and inside lesions.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 rot="5400000">
            <a:off x="9482328" y="3017520"/>
            <a:ext cx="109728" cy="182880"/>
          </a:xfrm>
          <a:prstGeom prst="rtTriangle">
            <a:avLst/>
          </a:prstGeom>
          <a:solidFill>
            <a:srgbClr val="D5DCE6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619488" y="1600200"/>
            <a:ext cx="2103120" cy="3108960"/>
          </a:xfrm>
          <a:prstGeom prst="roundRect">
            <a:avLst>
              <a:gd name="adj" fmla="val 3478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328148" y="1810512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2740" y="1975104"/>
            <a:ext cx="356616" cy="35661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56648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Metadata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784080" y="306324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clinical data (age, sex, MS type, EDSS) and scanner (make, model).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48640" y="5120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266944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88720" y="512064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are summarised with medians and interquartile ranges, because most distributions are strongly skewed.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the patients?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(n = 53)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(n = 22)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(n = 75)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mean ± SD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 ± 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 ± 10.5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± 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/ male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/ 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RRMS / SPMS / PPMS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3 /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/ 0 /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/ 3 /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EDSS, median (IQR)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(0–3)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(0.25–3)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(0–3)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276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002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the paper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19842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 / 27 M; 50 RRMS + 3 SPMS (train), 21 RRMS + 1 PPMS (test).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81635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788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relapsing-remitting MS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412480" y="317296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of 75 patients, with mild disability (median EDSS 2).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77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test are similar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412480" y="43616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volume correlates moderately with disability (Spearman ρ = 0.33).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RRMS: relapsing-remitting · SPMS: secondary progressive · PPMS: primary progressive · EDSS: disability scale (0–10)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control: can we trust the data?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08176"/>
            <a:ext cx="7498080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179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present and readable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/ 115 studies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3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1938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geometry for every image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× 218 × 182, 1 mm isotropic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359152"/>
            <a:ext cx="7498080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4140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binary and never empty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577840" y="24140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{0, 1}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4436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2889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volume = volume reported by the authors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2889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exact match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310128"/>
            <a:ext cx="7498080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1985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3364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count = count reported by the authors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577840" y="3364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/ 115 studies (6-connectivity)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9534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9728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P49_T2: T1 image missing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57784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4261104"/>
            <a:ext cx="7498080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70832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97280" y="43159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P44, P45, P53: registration outliers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5577840" y="4315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3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846320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97280" y="47914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P20, P49, P50: &gt;3× volume change between visits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5577840" y="47914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8412480" y="1417320"/>
            <a:ext cx="3227832" cy="3749040"/>
          </a:xfrm>
          <a:prstGeom prst="roundRect">
            <a:avLst>
              <a:gd name="adj" fmla="val 226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8412480" y="169164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5400" dirty="0"/>
          </a:p>
        </p:txBody>
      </p:sp>
      <p:sp>
        <p:nvSpPr>
          <p:cNvPr id="36" name="Text 26"/>
          <p:cNvSpPr txBox="1"/>
          <p:nvPr/>
        </p:nvSpPr>
        <p:spPr>
          <a:xfrm>
            <a:off x="8641080" y="26517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lesion volumes match the values published by the authors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8641080" y="38404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measurement code is correct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1 · A missing T1 image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check_empty_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0814"/>
            <a:ext cx="7498080" cy="30334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463040"/>
            <a:ext cx="3273552" cy="3200400"/>
          </a:xfrm>
          <a:prstGeom prst="roundRect">
            <a:avLst>
              <a:gd name="adj" fmla="val 2286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6642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9828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P49_T2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21945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 and T2 are fine.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T1 volume is almost completely empty (black).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lesion volume also drops 4.5× compared with the patient's first visit.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120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6694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512064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mask and the other two sequences are usable: the study is kept, with the T1 channel filled with zeros.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2 · Three badly registered studies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brain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889" y="1417320"/>
            <a:ext cx="6581182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3434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registration to MNI152, all brains should have a similar size (median 1.90 million voxels).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P44_T1, P45_T1 and P53_T1 are 1.7–1.8× larger: the brain was not scaled to the template and is cut at the image borders.</a:t>
            </a:r>
            <a:endParaRPr lang="en-US" sz="1500" dirty="0"/>
          </a:p>
        </p:txBody>
      </p:sp>
      <p:pic>
        <p:nvPicPr>
          <p:cNvPr id="8" name="Image 1" descr="eda_check_regist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183" y="1280160"/>
            <a:ext cx="248659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 flagged studies still be used?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01168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voxels outside brain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brightness (FLAIR)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P49_T2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7,763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P44_T1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3,970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P45_T1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7,390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P53_T1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4,114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studies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1.45 (min 1.12)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34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brightness = median FLAIR intensity inside lesions ÷ median in the whole brain.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1554480"/>
            <a:ext cx="3959352" cy="3246120"/>
          </a:xfrm>
          <a:prstGeom prst="roundRect">
            <a:avLst>
              <a:gd name="adj" fmla="val 225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21945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are aligned with their images, so the studies are usable.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does not mention them: they were most likely used.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studies (comparable with the paper).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analysis: repeat the results without them.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669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512064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them, but we show that we saw them and controlled their effect.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COUNTING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lesions counted? Matching the authors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0684" y="169164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9868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9052" y="1691640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0684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9868" y="2020824"/>
            <a:ext cx="301752" cy="301752"/>
          </a:xfrm>
          <a:prstGeom prst="rect">
            <a:avLst/>
          </a:prstGeom>
          <a:solidFill>
            <a:srgbClr val="E4572E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9052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0684" y="235000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9868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9052" y="2350008"/>
            <a:ext cx="301752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6-connectivity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face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150876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75204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4388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3572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75204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4388" y="2020824"/>
            <a:ext cx="301752" cy="301752"/>
          </a:xfrm>
          <a:prstGeom prst="rect">
            <a:avLst/>
          </a:prstGeom>
          <a:solidFill>
            <a:srgbClr val="E4572E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3572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5204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4388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33572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2316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18-connectivity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42316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or edge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150876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9724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78908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8092" y="1691640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9724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8908" y="2020824"/>
            <a:ext cx="301752" cy="301752"/>
          </a:xfrm>
          <a:prstGeom prst="rect">
            <a:avLst/>
          </a:prstGeom>
          <a:solidFill>
            <a:srgbClr val="E4572E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8092" y="2020824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9724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78908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8092" y="2350008"/>
            <a:ext cx="301752" cy="301752"/>
          </a:xfrm>
          <a:prstGeom prst="rect">
            <a:avLst/>
          </a:prstGeom>
          <a:solidFill>
            <a:srgbClr val="2A78D6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9768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26-connectivity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297680" y="3154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face, edge or corner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3749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slice of the 3×3×3 neighbourhood: red = voxel, blue = neighbours joined to the same lesion. The slices above and below add 1 (6-conn.), 5 (18-conn.) or 9 (26-conn.) neighbours each.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08760"/>
          <a:ext cx="528523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88136"/>
                <a:gridCol w="10881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6-conn.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6-conn., ≥ 2 vox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18-conn.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6-conn., ≥ 3 vox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26-conn.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(Table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548640" y="507492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57800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1188720" y="50749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6-connectivity reproduces the authors' lesion count in 115 / 115 studies → we use it for the EDA and for LTPR / LFPR.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PER 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Lesion burden varies by two orders of magnitude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lesion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030" y="1371600"/>
            <a:ext cx="9509635" cy="32004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(IQR)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lesion volume (mm³)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6,217 (2,857–17,877)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5,602 (3,004–11,585)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lesions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(16–39)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(15–50)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818120" y="475488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&lt; 1 cm³ to &gt; 70 cm³ of lesion, and from 3 to 193 lesions per study. Train and test have similar distributions.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Lesions are a tiny fraction of the brain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0.30 %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brain voxels are lesion (median)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lesion voxel every 331 healthy voxels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0.04–3.85 %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554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574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“no lesion” everywhere would be &gt; 99 % accurate — and useless.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meaningless here: use overlap metrics (Dice) and lesion-wise metrics.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needs an overlap-based loss (Dice + cross-entropy).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patches must be sampled around lesions, otherwise the model rarely sees them.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lesions are small, but carry little volume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lesion_si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2563"/>
            <a:ext cx="5760720" cy="2681274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6492240" y="1325880"/>
          <a:ext cx="51663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lesions are ≤ 100 mm³…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251460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only this share of lesion volume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volume is in the 5 % largest lesions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150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55321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is dominated by large lesions: a model can score well while missing many small ones → focus of the thesis.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HETEROGENEITY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come from different scanners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sca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4041"/>
            <a:ext cx="6583680" cy="30812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417320"/>
            <a:ext cx="4142232" cy="1051560"/>
          </a:xfrm>
          <a:prstGeom prst="roundRect">
            <a:avLst>
              <a:gd name="adj" fmla="val 6957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models, 3 manufacturers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874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100 studies, GE 9, Siemens 1; 5 without information.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0" y="2606040"/>
            <a:ext cx="4142232" cy="1051560"/>
          </a:xfrm>
          <a:prstGeom prst="roundRect">
            <a:avLst>
              <a:gd name="adj" fmla="val 6957"/>
            </a:avLst>
          </a:prstGeom>
          <a:solidFill>
            <a:srgbClr val="E9EFF8"/>
          </a:solidFill>
          <a:ln w="12700">
            <a:solidFill>
              <a:srgbClr val="E9EF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2697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strength unknown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metadata give make and model, not 1.5 T or 3 T; some models exist in both versions.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498080" y="3794760"/>
            <a:ext cx="4142232" cy="1051560"/>
          </a:xfrm>
          <a:prstGeom prst="roundRect">
            <a:avLst>
              <a:gd name="adj" fmla="val 6957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80960" y="38862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differs from train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4251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is 4 % of train but 23 % of test; the only Siemens study is in test.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35838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521208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contains a mild domain shift: report test results by manufacturer.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HETEROGENEITY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brightness depends on the scanner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intensities_by_manufactu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8697"/>
            <a:ext cx="11094415" cy="34405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shows the 99th percentile of brain intensity per study. </a:t>
            </a:r>
            <a:pPr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FLAIR: median 273 (Philips) vs 806 (GE); range 130–1,675.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Lesions stay clearly brighter than the brain on FLAIR (ratio 1.45).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7607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562356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Intensities are not normalised in the released data: z-score every image within the brain before training.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CONSISTENCY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with several visits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pic>
        <p:nvPicPr>
          <p:cNvPr id="6" name="Image 0" descr="eda_longitud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6903"/>
            <a:ext cx="6675120" cy="3124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0" y="1463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patients, 40 pairs of consecutive visits.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stable: median ratio 1.03; 22 of 40 pairs change &lt; 20 %.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697480"/>
          <a:ext cx="4160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417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→ 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7.81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→ 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→ 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→ 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3.98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498080" y="46177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&gt; 3× can be real (new lesions) or annotation / registration problems.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6327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548640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are split by patient, so two visits of the same patient never end up in training and 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findings to modelling decisions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MSLesSeg · Exploratory data analysis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7105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will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count lesions with 6-connectivity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rule for LTPR / LFPR, so results are comparable with the 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Lesions ≈ 0.3 % of the brain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+ cross-entropy loss; sample patches around lesions; never use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 of lesions small, 7 % of volume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Lesion-wise metrics (LTPR, LFPR) by lesion size; focus of the thesis contribution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Intensities depend on the scanner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normalisation per image; intensity augmentation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scanner mix in train and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test results by manufacturer; robustness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 with 1–4 visits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Patient-level cross-validation folds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flagged studies with usable masks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them; sensitivity analysis without them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FLAIR is the most informative sequence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FLAIR + T1 + T2; ablation with FLAIR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774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cross-validation folds</a:t>
            </a:r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issue #5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2461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metrics, incl. lesion-wise by size</a:t>
            </a:r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issue #7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1148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with MLflow</a:t>
            </a:r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issue #8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9834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SwinUNETR and train nnU-Net</a:t>
            </a:r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issue #9 · #10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2377440"/>
            <a:ext cx="3502152" cy="3200400"/>
          </a:xfrm>
          <a:prstGeom prst="roundRect">
            <a:avLst>
              <a:gd name="adj" fmla="val 2286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632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access for training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keeping the flagged studies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D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authors: folds, hyper-parameters, field strength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MSLesSeg</dc:title>
  <dc:subject>PptxGenJS Presentation</dc:subject>
  <dc:creator>Toni</dc:creator>
  <cp:lastModifiedBy>Toni</cp:lastModifiedBy>
  <cp:revision>1</cp:revision>
  <dcterms:created xsi:type="dcterms:W3CDTF">2026-09-27T21:46:25Z</dcterms:created>
  <dcterms:modified xsi:type="dcterms:W3CDTF">2026-09-27T21:46:25Z</dcterms:modified>
</cp:coreProperties>
</file>